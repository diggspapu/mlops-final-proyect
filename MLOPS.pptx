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Roboto" charset="1" panose="02000000000000000000"/>
      <p:regular r:id="rId21"/>
    </p:embeddedFont>
    <p:embeddedFont>
      <p:font typeface="Garet" charset="1" panose="00000000000000000000"/>
      <p:regular r:id="rId22"/>
    </p:embeddedFont>
    <p:embeddedFont>
      <p:font typeface="HK Grotesk Bold" charset="1" panose="00000800000000000000"/>
      <p:regular r:id="rId23"/>
    </p:embeddedFont>
    <p:embeddedFont>
      <p:font typeface="Halant Medium" charset="1" panose="00000600000000000000"/>
      <p:regular r:id="rId24"/>
    </p:embeddedFont>
    <p:embeddedFont>
      <p:font typeface="Assistant" charset="1" panose="00000500000000000000"/>
      <p:regular r:id="rId25"/>
    </p:embeddedFont>
    <p:embeddedFont>
      <p:font typeface="Halant" charset="1" panose="00000500000000000000"/>
      <p:regular r:id="rId26"/>
    </p:embeddedFont>
    <p:embeddedFont>
      <p:font typeface="HK Grotesk" charset="1" panose="00000500000000000000"/>
      <p:regular r:id="rId27"/>
    </p:embeddedFont>
    <p:embeddedFont>
      <p:font typeface="Open Sans Bold" charset="1" panose="020B08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75E7">
                <a:alpha val="100000"/>
              </a:srgbClr>
            </a:gs>
            <a:gs pos="100000">
              <a:srgbClr val="4EA6D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8205864"/>
            <a:ext cx="816198" cy="1844563"/>
            <a:chOff x="0" y="0"/>
            <a:chExt cx="214966" cy="485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966" cy="485811"/>
            </a:xfrm>
            <a:custGeom>
              <a:avLst/>
              <a:gdLst/>
              <a:ahLst/>
              <a:cxnLst/>
              <a:rect r="r" b="b" t="t" l="l"/>
              <a:pathLst>
                <a:path h="485811" w="214966">
                  <a:moveTo>
                    <a:pt x="107483" y="0"/>
                  </a:moveTo>
                  <a:lnTo>
                    <a:pt x="107483" y="0"/>
                  </a:lnTo>
                  <a:cubicBezTo>
                    <a:pt x="166844" y="0"/>
                    <a:pt x="214966" y="48122"/>
                    <a:pt x="214966" y="107483"/>
                  </a:cubicBezTo>
                  <a:lnTo>
                    <a:pt x="214966" y="378328"/>
                  </a:lnTo>
                  <a:cubicBezTo>
                    <a:pt x="214966" y="406834"/>
                    <a:pt x="203642" y="434173"/>
                    <a:pt x="183485" y="454330"/>
                  </a:cubicBezTo>
                  <a:cubicBezTo>
                    <a:pt x="163328" y="474487"/>
                    <a:pt x="135989" y="485811"/>
                    <a:pt x="107483" y="485811"/>
                  </a:cubicBezTo>
                  <a:lnTo>
                    <a:pt x="107483" y="485811"/>
                  </a:lnTo>
                  <a:cubicBezTo>
                    <a:pt x="78977" y="485811"/>
                    <a:pt x="51638" y="474487"/>
                    <a:pt x="31481" y="454330"/>
                  </a:cubicBezTo>
                  <a:cubicBezTo>
                    <a:pt x="11324" y="434173"/>
                    <a:pt x="0" y="406834"/>
                    <a:pt x="0" y="378328"/>
                  </a:cubicBezTo>
                  <a:lnTo>
                    <a:pt x="0" y="107483"/>
                  </a:lnTo>
                  <a:cubicBezTo>
                    <a:pt x="0" y="78977"/>
                    <a:pt x="11324" y="51638"/>
                    <a:pt x="31481" y="31481"/>
                  </a:cubicBezTo>
                  <a:cubicBezTo>
                    <a:pt x="51638" y="11324"/>
                    <a:pt x="78977" y="0"/>
                    <a:pt x="1074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4966" cy="514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89945" y="8511013"/>
            <a:ext cx="554908" cy="55490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47625" cap="sq">
              <a:gradFill>
                <a:gsLst>
                  <a:gs pos="0">
                    <a:srgbClr val="4775E7">
                      <a:alpha val="100000"/>
                    </a:srgbClr>
                  </a:gs>
                  <a:gs pos="100000">
                    <a:srgbClr val="4EA6D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89945" y="9190371"/>
            <a:ext cx="554908" cy="5549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4775E7">
                      <a:alpha val="100000"/>
                    </a:srgbClr>
                  </a:gs>
                  <a:gs pos="100000">
                    <a:srgbClr val="4EA6D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13168" y="4031790"/>
            <a:ext cx="2009944" cy="1151150"/>
          </a:xfrm>
          <a:custGeom>
            <a:avLst/>
            <a:gdLst/>
            <a:ahLst/>
            <a:cxnLst/>
            <a:rect r="r" b="b" t="t" l="l"/>
            <a:pathLst>
              <a:path h="1151150" w="2009944">
                <a:moveTo>
                  <a:pt x="0" y="0"/>
                </a:moveTo>
                <a:lnTo>
                  <a:pt x="2009943" y="0"/>
                </a:lnTo>
                <a:lnTo>
                  <a:pt x="2009943" y="1151149"/>
                </a:lnTo>
                <a:lnTo>
                  <a:pt x="0" y="1151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269433">
            <a:off x="11686504" y="-3233216"/>
            <a:ext cx="6260367" cy="8740890"/>
          </a:xfrm>
          <a:custGeom>
            <a:avLst/>
            <a:gdLst/>
            <a:ahLst/>
            <a:cxnLst/>
            <a:rect r="r" b="b" t="t" l="l"/>
            <a:pathLst>
              <a:path h="8740890" w="6260367">
                <a:moveTo>
                  <a:pt x="0" y="0"/>
                </a:moveTo>
                <a:lnTo>
                  <a:pt x="6260367" y="0"/>
                </a:lnTo>
                <a:lnTo>
                  <a:pt x="6260367" y="8740890"/>
                </a:lnTo>
                <a:lnTo>
                  <a:pt x="0" y="874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412730">
            <a:off x="-18221" y="4062302"/>
            <a:ext cx="5602145" cy="7821863"/>
          </a:xfrm>
          <a:custGeom>
            <a:avLst/>
            <a:gdLst/>
            <a:ahLst/>
            <a:cxnLst/>
            <a:rect r="r" b="b" t="t" l="l"/>
            <a:pathLst>
              <a:path h="7821863" w="5602145">
                <a:moveTo>
                  <a:pt x="0" y="0"/>
                </a:moveTo>
                <a:lnTo>
                  <a:pt x="5602145" y="0"/>
                </a:lnTo>
                <a:lnTo>
                  <a:pt x="5602145" y="7821863"/>
                </a:lnTo>
                <a:lnTo>
                  <a:pt x="0" y="7821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278332" y="2737360"/>
            <a:ext cx="104469" cy="2120224"/>
            <a:chOff x="0" y="0"/>
            <a:chExt cx="27515" cy="5584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515" cy="558413"/>
            </a:xfrm>
            <a:custGeom>
              <a:avLst/>
              <a:gdLst/>
              <a:ahLst/>
              <a:cxnLst/>
              <a:rect r="r" b="b" t="t" l="l"/>
              <a:pathLst>
                <a:path h="558413" w="27515">
                  <a:moveTo>
                    <a:pt x="13757" y="0"/>
                  </a:moveTo>
                  <a:lnTo>
                    <a:pt x="13757" y="0"/>
                  </a:lnTo>
                  <a:cubicBezTo>
                    <a:pt x="17406" y="0"/>
                    <a:pt x="20905" y="1449"/>
                    <a:pt x="23485" y="4029"/>
                  </a:cubicBezTo>
                  <a:cubicBezTo>
                    <a:pt x="26065" y="6609"/>
                    <a:pt x="27515" y="10109"/>
                    <a:pt x="27515" y="13757"/>
                  </a:cubicBezTo>
                  <a:lnTo>
                    <a:pt x="27515" y="544656"/>
                  </a:lnTo>
                  <a:cubicBezTo>
                    <a:pt x="27515" y="552254"/>
                    <a:pt x="21355" y="558413"/>
                    <a:pt x="13757" y="558413"/>
                  </a:cubicBezTo>
                  <a:lnTo>
                    <a:pt x="13757" y="558413"/>
                  </a:lnTo>
                  <a:cubicBezTo>
                    <a:pt x="10109" y="558413"/>
                    <a:pt x="6609" y="556963"/>
                    <a:pt x="4029" y="554383"/>
                  </a:cubicBezTo>
                  <a:cubicBezTo>
                    <a:pt x="1449" y="551803"/>
                    <a:pt x="0" y="548304"/>
                    <a:pt x="0" y="544656"/>
                  </a:cubicBezTo>
                  <a:lnTo>
                    <a:pt x="0" y="13757"/>
                  </a:lnTo>
                  <a:cubicBezTo>
                    <a:pt x="0" y="6159"/>
                    <a:pt x="6159" y="0"/>
                    <a:pt x="137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7515" cy="586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57581" y="2271410"/>
            <a:ext cx="10501639" cy="30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7"/>
              </a:lnSpc>
            </a:pPr>
            <a:r>
              <a:rPr lang="en-US" sz="1082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Churn en un Call Center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92060" y="8667109"/>
            <a:ext cx="350677" cy="25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4"/>
              </a:lnSpc>
            </a:pPr>
            <a:r>
              <a:rPr lang="en-US" sz="172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7581" y="5913462"/>
            <a:ext cx="8984087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MLOps con CRISP-DM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548169" y="8512425"/>
            <a:ext cx="4973314" cy="49733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90982" y="8618621"/>
            <a:ext cx="3913442" cy="39134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8205864"/>
            <a:ext cx="816198" cy="1844563"/>
            <a:chOff x="0" y="0"/>
            <a:chExt cx="214966" cy="485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966" cy="485811"/>
            </a:xfrm>
            <a:custGeom>
              <a:avLst/>
              <a:gdLst/>
              <a:ahLst/>
              <a:cxnLst/>
              <a:rect r="r" b="b" t="t" l="l"/>
              <a:pathLst>
                <a:path h="485811" w="214966">
                  <a:moveTo>
                    <a:pt x="107483" y="0"/>
                  </a:moveTo>
                  <a:lnTo>
                    <a:pt x="107483" y="0"/>
                  </a:lnTo>
                  <a:cubicBezTo>
                    <a:pt x="166844" y="0"/>
                    <a:pt x="214966" y="48122"/>
                    <a:pt x="214966" y="107483"/>
                  </a:cubicBezTo>
                  <a:lnTo>
                    <a:pt x="214966" y="378328"/>
                  </a:lnTo>
                  <a:cubicBezTo>
                    <a:pt x="214966" y="406834"/>
                    <a:pt x="203642" y="434173"/>
                    <a:pt x="183485" y="454330"/>
                  </a:cubicBezTo>
                  <a:cubicBezTo>
                    <a:pt x="163328" y="474487"/>
                    <a:pt x="135989" y="485811"/>
                    <a:pt x="107483" y="485811"/>
                  </a:cubicBezTo>
                  <a:lnTo>
                    <a:pt x="107483" y="485811"/>
                  </a:lnTo>
                  <a:cubicBezTo>
                    <a:pt x="78977" y="485811"/>
                    <a:pt x="51638" y="474487"/>
                    <a:pt x="31481" y="454330"/>
                  </a:cubicBezTo>
                  <a:cubicBezTo>
                    <a:pt x="11324" y="434173"/>
                    <a:pt x="0" y="406834"/>
                    <a:pt x="0" y="378328"/>
                  </a:cubicBezTo>
                  <a:lnTo>
                    <a:pt x="0" y="107483"/>
                  </a:lnTo>
                  <a:cubicBezTo>
                    <a:pt x="0" y="78977"/>
                    <a:pt x="11324" y="51638"/>
                    <a:pt x="31481" y="31481"/>
                  </a:cubicBezTo>
                  <a:cubicBezTo>
                    <a:pt x="51638" y="11324"/>
                    <a:pt x="78977" y="0"/>
                    <a:pt x="1074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4966" cy="514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89945" y="8511013"/>
            <a:ext cx="554908" cy="5549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89945" y="9190371"/>
            <a:ext cx="554908" cy="5549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9860" y="4076684"/>
            <a:ext cx="3313182" cy="4313337"/>
            <a:chOff x="0" y="0"/>
            <a:chExt cx="872608" cy="1136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109825" y="0"/>
                  </a:moveTo>
                  <a:lnTo>
                    <a:pt x="762783" y="0"/>
                  </a:lnTo>
                  <a:cubicBezTo>
                    <a:pt x="791910" y="0"/>
                    <a:pt x="819845" y="11571"/>
                    <a:pt x="840441" y="32167"/>
                  </a:cubicBezTo>
                  <a:cubicBezTo>
                    <a:pt x="861037" y="52763"/>
                    <a:pt x="872608" y="80698"/>
                    <a:pt x="872608" y="109825"/>
                  </a:cubicBezTo>
                  <a:lnTo>
                    <a:pt x="872608" y="1026198"/>
                  </a:lnTo>
                  <a:cubicBezTo>
                    <a:pt x="872608" y="1055325"/>
                    <a:pt x="861037" y="1083260"/>
                    <a:pt x="840441" y="1103856"/>
                  </a:cubicBezTo>
                  <a:cubicBezTo>
                    <a:pt x="819845" y="1124452"/>
                    <a:pt x="791910" y="1136023"/>
                    <a:pt x="762783" y="1136023"/>
                  </a:cubicBezTo>
                  <a:lnTo>
                    <a:pt x="109825" y="1136023"/>
                  </a:lnTo>
                  <a:cubicBezTo>
                    <a:pt x="80698" y="1136023"/>
                    <a:pt x="52763" y="1124452"/>
                    <a:pt x="32167" y="1103856"/>
                  </a:cubicBezTo>
                  <a:cubicBezTo>
                    <a:pt x="11571" y="1083260"/>
                    <a:pt x="0" y="1055325"/>
                    <a:pt x="0" y="1026198"/>
                  </a:cubicBezTo>
                  <a:lnTo>
                    <a:pt x="0" y="109825"/>
                  </a:lnTo>
                  <a:cubicBezTo>
                    <a:pt x="0" y="80698"/>
                    <a:pt x="11571" y="52763"/>
                    <a:pt x="32167" y="32167"/>
                  </a:cubicBezTo>
                  <a:cubicBezTo>
                    <a:pt x="52763" y="11571"/>
                    <a:pt x="80698" y="0"/>
                    <a:pt x="109825" y="0"/>
                  </a:cubicBezTo>
                  <a:close/>
                </a:path>
              </a:pathLst>
            </a:custGeom>
            <a:solidFill>
              <a:srgbClr val="545454">
                <a:alpha val="274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92293" y="3520179"/>
            <a:ext cx="4198665" cy="5466121"/>
            <a:chOff x="0" y="0"/>
            <a:chExt cx="872608" cy="11360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86663" y="0"/>
                  </a:moveTo>
                  <a:lnTo>
                    <a:pt x="785944" y="0"/>
                  </a:lnTo>
                  <a:cubicBezTo>
                    <a:pt x="833807" y="0"/>
                    <a:pt x="872608" y="38800"/>
                    <a:pt x="872608" y="86663"/>
                  </a:cubicBezTo>
                  <a:lnTo>
                    <a:pt x="872608" y="1049360"/>
                  </a:lnTo>
                  <a:cubicBezTo>
                    <a:pt x="872608" y="1097222"/>
                    <a:pt x="833807" y="1136023"/>
                    <a:pt x="785944" y="1136023"/>
                  </a:cubicBezTo>
                  <a:lnTo>
                    <a:pt x="86663" y="1136023"/>
                  </a:lnTo>
                  <a:cubicBezTo>
                    <a:pt x="38800" y="1136023"/>
                    <a:pt x="0" y="1097222"/>
                    <a:pt x="0" y="1049360"/>
                  </a:cubicBezTo>
                  <a:lnTo>
                    <a:pt x="0" y="86663"/>
                  </a:lnTo>
                  <a:cubicBezTo>
                    <a:pt x="0" y="38800"/>
                    <a:pt x="38800" y="0"/>
                    <a:pt x="86663" y="0"/>
                  </a:cubicBezTo>
                  <a:close/>
                </a:path>
              </a:pathLst>
            </a:custGeom>
            <a:solidFill>
              <a:srgbClr val="545454">
                <a:alpha val="274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82016" y="4076684"/>
            <a:ext cx="3313182" cy="4313337"/>
            <a:chOff x="0" y="0"/>
            <a:chExt cx="872608" cy="11360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109825" y="0"/>
                  </a:moveTo>
                  <a:lnTo>
                    <a:pt x="762783" y="0"/>
                  </a:lnTo>
                  <a:cubicBezTo>
                    <a:pt x="791910" y="0"/>
                    <a:pt x="819845" y="11571"/>
                    <a:pt x="840441" y="32167"/>
                  </a:cubicBezTo>
                  <a:cubicBezTo>
                    <a:pt x="861037" y="52763"/>
                    <a:pt x="872608" y="80698"/>
                    <a:pt x="872608" y="109825"/>
                  </a:cubicBezTo>
                  <a:lnTo>
                    <a:pt x="872608" y="1026198"/>
                  </a:lnTo>
                  <a:cubicBezTo>
                    <a:pt x="872608" y="1055325"/>
                    <a:pt x="861037" y="1083260"/>
                    <a:pt x="840441" y="1103856"/>
                  </a:cubicBezTo>
                  <a:cubicBezTo>
                    <a:pt x="819845" y="1124452"/>
                    <a:pt x="791910" y="1136023"/>
                    <a:pt x="762783" y="1136023"/>
                  </a:cubicBezTo>
                  <a:lnTo>
                    <a:pt x="109825" y="1136023"/>
                  </a:lnTo>
                  <a:cubicBezTo>
                    <a:pt x="80698" y="1136023"/>
                    <a:pt x="52763" y="1124452"/>
                    <a:pt x="32167" y="1103856"/>
                  </a:cubicBezTo>
                  <a:cubicBezTo>
                    <a:pt x="11571" y="1083260"/>
                    <a:pt x="0" y="1055325"/>
                    <a:pt x="0" y="1026198"/>
                  </a:cubicBezTo>
                  <a:lnTo>
                    <a:pt x="0" y="109825"/>
                  </a:lnTo>
                  <a:cubicBezTo>
                    <a:pt x="0" y="80698"/>
                    <a:pt x="11571" y="52763"/>
                    <a:pt x="32167" y="32167"/>
                  </a:cubicBezTo>
                  <a:cubicBezTo>
                    <a:pt x="52763" y="11571"/>
                    <a:pt x="80698" y="0"/>
                    <a:pt x="109825" y="0"/>
                  </a:cubicBezTo>
                  <a:close/>
                </a:path>
              </a:pathLst>
            </a:custGeom>
            <a:solidFill>
              <a:srgbClr val="545454">
                <a:alpha val="274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32235" y="4027561"/>
            <a:ext cx="3313182" cy="4313337"/>
            <a:chOff x="0" y="0"/>
            <a:chExt cx="872608" cy="11360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109825" y="0"/>
                  </a:moveTo>
                  <a:lnTo>
                    <a:pt x="762783" y="0"/>
                  </a:lnTo>
                  <a:cubicBezTo>
                    <a:pt x="791910" y="0"/>
                    <a:pt x="819845" y="11571"/>
                    <a:pt x="840441" y="32167"/>
                  </a:cubicBezTo>
                  <a:cubicBezTo>
                    <a:pt x="861037" y="52763"/>
                    <a:pt x="872608" y="80698"/>
                    <a:pt x="872608" y="109825"/>
                  </a:cubicBezTo>
                  <a:lnTo>
                    <a:pt x="872608" y="1026198"/>
                  </a:lnTo>
                  <a:cubicBezTo>
                    <a:pt x="872608" y="1055325"/>
                    <a:pt x="861037" y="1083260"/>
                    <a:pt x="840441" y="1103856"/>
                  </a:cubicBezTo>
                  <a:cubicBezTo>
                    <a:pt x="819845" y="1124452"/>
                    <a:pt x="791910" y="1136023"/>
                    <a:pt x="762783" y="1136023"/>
                  </a:cubicBezTo>
                  <a:lnTo>
                    <a:pt x="109825" y="1136023"/>
                  </a:lnTo>
                  <a:cubicBezTo>
                    <a:pt x="80698" y="1136023"/>
                    <a:pt x="52763" y="1124452"/>
                    <a:pt x="32167" y="1103856"/>
                  </a:cubicBezTo>
                  <a:cubicBezTo>
                    <a:pt x="11571" y="1083260"/>
                    <a:pt x="0" y="1055325"/>
                    <a:pt x="0" y="1026198"/>
                  </a:cubicBezTo>
                  <a:lnTo>
                    <a:pt x="0" y="109825"/>
                  </a:lnTo>
                  <a:cubicBezTo>
                    <a:pt x="0" y="80698"/>
                    <a:pt x="11571" y="52763"/>
                    <a:pt x="32167" y="32167"/>
                  </a:cubicBezTo>
                  <a:cubicBezTo>
                    <a:pt x="52763" y="11571"/>
                    <a:pt x="80698" y="0"/>
                    <a:pt x="1098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34039" y="3731343"/>
            <a:ext cx="708438" cy="70843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44668" y="3471057"/>
            <a:ext cx="4198665" cy="5466121"/>
            <a:chOff x="0" y="0"/>
            <a:chExt cx="872608" cy="11360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86663" y="0"/>
                  </a:moveTo>
                  <a:lnTo>
                    <a:pt x="785944" y="0"/>
                  </a:lnTo>
                  <a:cubicBezTo>
                    <a:pt x="833807" y="0"/>
                    <a:pt x="872608" y="38800"/>
                    <a:pt x="872608" y="86663"/>
                  </a:cubicBezTo>
                  <a:lnTo>
                    <a:pt x="872608" y="1049360"/>
                  </a:lnTo>
                  <a:cubicBezTo>
                    <a:pt x="872608" y="1097222"/>
                    <a:pt x="833807" y="1136023"/>
                    <a:pt x="785944" y="1136023"/>
                  </a:cubicBezTo>
                  <a:lnTo>
                    <a:pt x="86663" y="1136023"/>
                  </a:lnTo>
                  <a:cubicBezTo>
                    <a:pt x="38800" y="1136023"/>
                    <a:pt x="0" y="1097222"/>
                    <a:pt x="0" y="1049360"/>
                  </a:cubicBezTo>
                  <a:lnTo>
                    <a:pt x="0" y="86663"/>
                  </a:lnTo>
                  <a:cubicBezTo>
                    <a:pt x="0" y="38800"/>
                    <a:pt x="38800" y="0"/>
                    <a:pt x="866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695112" y="3022169"/>
            <a:ext cx="897775" cy="89777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34391" y="4027561"/>
            <a:ext cx="3313182" cy="4313337"/>
            <a:chOff x="0" y="0"/>
            <a:chExt cx="872608" cy="11360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2608" cy="1136023"/>
            </a:xfrm>
            <a:custGeom>
              <a:avLst/>
              <a:gdLst/>
              <a:ahLst/>
              <a:cxnLst/>
              <a:rect r="r" b="b" t="t" l="l"/>
              <a:pathLst>
                <a:path h="1136023" w="872608">
                  <a:moveTo>
                    <a:pt x="109825" y="0"/>
                  </a:moveTo>
                  <a:lnTo>
                    <a:pt x="762783" y="0"/>
                  </a:lnTo>
                  <a:cubicBezTo>
                    <a:pt x="791910" y="0"/>
                    <a:pt x="819845" y="11571"/>
                    <a:pt x="840441" y="32167"/>
                  </a:cubicBezTo>
                  <a:cubicBezTo>
                    <a:pt x="861037" y="52763"/>
                    <a:pt x="872608" y="80698"/>
                    <a:pt x="872608" y="109825"/>
                  </a:cubicBezTo>
                  <a:lnTo>
                    <a:pt x="872608" y="1026198"/>
                  </a:lnTo>
                  <a:cubicBezTo>
                    <a:pt x="872608" y="1055325"/>
                    <a:pt x="861037" y="1083260"/>
                    <a:pt x="840441" y="1103856"/>
                  </a:cubicBezTo>
                  <a:cubicBezTo>
                    <a:pt x="819845" y="1124452"/>
                    <a:pt x="791910" y="1136023"/>
                    <a:pt x="762783" y="1136023"/>
                  </a:cubicBezTo>
                  <a:lnTo>
                    <a:pt x="109825" y="1136023"/>
                  </a:lnTo>
                  <a:cubicBezTo>
                    <a:pt x="80698" y="1136023"/>
                    <a:pt x="52763" y="1124452"/>
                    <a:pt x="32167" y="1103856"/>
                  </a:cubicBezTo>
                  <a:cubicBezTo>
                    <a:pt x="11571" y="1083260"/>
                    <a:pt x="0" y="1055325"/>
                    <a:pt x="0" y="1026198"/>
                  </a:cubicBezTo>
                  <a:lnTo>
                    <a:pt x="0" y="109825"/>
                  </a:lnTo>
                  <a:cubicBezTo>
                    <a:pt x="0" y="80698"/>
                    <a:pt x="11571" y="52763"/>
                    <a:pt x="32167" y="32167"/>
                  </a:cubicBezTo>
                  <a:cubicBezTo>
                    <a:pt x="52763" y="11571"/>
                    <a:pt x="80698" y="0"/>
                    <a:pt x="1098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72608" cy="1164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36763" y="3731343"/>
            <a:ext cx="708438" cy="70843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5400000">
            <a:off x="5977381" y="5661588"/>
            <a:ext cx="382949" cy="662333"/>
          </a:xfrm>
          <a:custGeom>
            <a:avLst/>
            <a:gdLst/>
            <a:ahLst/>
            <a:cxnLst/>
            <a:rect r="r" b="b" t="t" l="l"/>
            <a:pathLst>
              <a:path h="662333" w="382949">
                <a:moveTo>
                  <a:pt x="0" y="0"/>
                </a:moveTo>
                <a:lnTo>
                  <a:pt x="382949" y="0"/>
                </a:lnTo>
                <a:lnTo>
                  <a:pt x="382949" y="662334"/>
                </a:lnTo>
                <a:lnTo>
                  <a:pt x="0" y="66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12021199" y="5661588"/>
            <a:ext cx="382949" cy="662333"/>
          </a:xfrm>
          <a:custGeom>
            <a:avLst/>
            <a:gdLst/>
            <a:ahLst/>
            <a:cxnLst/>
            <a:rect r="r" b="b" t="t" l="l"/>
            <a:pathLst>
              <a:path h="662333" w="382949">
                <a:moveTo>
                  <a:pt x="0" y="0"/>
                </a:moveTo>
                <a:lnTo>
                  <a:pt x="382950" y="0"/>
                </a:lnTo>
                <a:lnTo>
                  <a:pt x="382950" y="662334"/>
                </a:lnTo>
                <a:lnTo>
                  <a:pt x="0" y="66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287116" y="4841511"/>
            <a:ext cx="602284" cy="567564"/>
          </a:xfrm>
          <a:custGeom>
            <a:avLst/>
            <a:gdLst/>
            <a:ahLst/>
            <a:cxnLst/>
            <a:rect r="r" b="b" t="t" l="l"/>
            <a:pathLst>
              <a:path h="567564" w="602284">
                <a:moveTo>
                  <a:pt x="0" y="0"/>
                </a:moveTo>
                <a:lnTo>
                  <a:pt x="602284" y="0"/>
                </a:lnTo>
                <a:lnTo>
                  <a:pt x="602284" y="567565"/>
                </a:lnTo>
                <a:lnTo>
                  <a:pt x="0" y="567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573716" y="4371203"/>
            <a:ext cx="1045317" cy="969294"/>
          </a:xfrm>
          <a:custGeom>
            <a:avLst/>
            <a:gdLst/>
            <a:ahLst/>
            <a:cxnLst/>
            <a:rect r="r" b="b" t="t" l="l"/>
            <a:pathLst>
              <a:path h="969294" w="1045317">
                <a:moveTo>
                  <a:pt x="0" y="0"/>
                </a:moveTo>
                <a:lnTo>
                  <a:pt x="1045318" y="0"/>
                </a:lnTo>
                <a:lnTo>
                  <a:pt x="1045318" y="969294"/>
                </a:lnTo>
                <a:lnTo>
                  <a:pt x="0" y="969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502570" y="4756052"/>
            <a:ext cx="653023" cy="653023"/>
          </a:xfrm>
          <a:custGeom>
            <a:avLst/>
            <a:gdLst/>
            <a:ahLst/>
            <a:cxnLst/>
            <a:rect r="r" b="b" t="t" l="l"/>
            <a:pathLst>
              <a:path h="653023" w="653023">
                <a:moveTo>
                  <a:pt x="0" y="0"/>
                </a:moveTo>
                <a:lnTo>
                  <a:pt x="653023" y="0"/>
                </a:lnTo>
                <a:lnTo>
                  <a:pt x="653023" y="653024"/>
                </a:lnTo>
                <a:lnTo>
                  <a:pt x="0" y="653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7492060" y="8671077"/>
            <a:ext cx="350677" cy="25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4"/>
              </a:lnSpc>
            </a:pPr>
            <a:r>
              <a:rPr lang="en-US" sz="17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24336" y="983759"/>
            <a:ext cx="9239328" cy="73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b="true" sz="4399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CONTEXTO DEL NEGOCIO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73018" y="5877480"/>
            <a:ext cx="3326866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true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Cobranza del Banco Estrellitas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23253" y="6686709"/>
            <a:ext cx="242639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Pierden clientes en cobranza por abandono de llamada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182016" y="5877480"/>
            <a:ext cx="332686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000" b="true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Estrategias de retención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584625" y="6410546"/>
            <a:ext cx="242639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 se mantienen a los clientes dentro de las llamadas.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480567" y="5867955"/>
            <a:ext cx="3326866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b="true">
                <a:solidFill>
                  <a:srgbClr val="545454"/>
                </a:solidFill>
                <a:latin typeface="Arimo Bold"/>
                <a:ea typeface="Arimo Bold"/>
                <a:cs typeface="Arimo Bold"/>
                <a:sym typeface="Arimo Bold"/>
              </a:rPr>
              <a:t>Aumento de exposición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46449" y="6391496"/>
            <a:ext cx="319510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DInero no utilizable y por ende pérdidas del banco.                                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350302" y="3944275"/>
            <a:ext cx="475912" cy="29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06044" y="3283097"/>
            <a:ext cx="475912" cy="38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553026" y="3944275"/>
            <a:ext cx="475912" cy="29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-1607128" y="-930302"/>
            <a:ext cx="4203874" cy="4203874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75E7">
                    <a:alpha val="100000"/>
                  </a:srgbClr>
                </a:gs>
                <a:gs pos="100000">
                  <a:srgbClr val="4EA6D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79964">
            <a:off x="-4205763" y="5951842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9"/>
                </a:lnTo>
                <a:lnTo>
                  <a:pt x="0" y="5377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4872895" y="-3309112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9"/>
                </a:lnTo>
                <a:lnTo>
                  <a:pt x="0" y="8462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76439" y="4926696"/>
            <a:ext cx="5028627" cy="4982351"/>
          </a:xfrm>
          <a:custGeom>
            <a:avLst/>
            <a:gdLst/>
            <a:ahLst/>
            <a:cxnLst/>
            <a:rect r="r" b="b" t="t" l="l"/>
            <a:pathLst>
              <a:path h="4982351" w="5028627">
                <a:moveTo>
                  <a:pt x="0" y="0"/>
                </a:moveTo>
                <a:lnTo>
                  <a:pt x="5028626" y="0"/>
                </a:lnTo>
                <a:lnTo>
                  <a:pt x="5028626" y="4982351"/>
                </a:lnTo>
                <a:lnTo>
                  <a:pt x="0" y="4982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57600" y="1038225"/>
            <a:ext cx="9814418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57600" y="2255601"/>
            <a:ext cx="3787282" cy="1707361"/>
            <a:chOff x="0" y="0"/>
            <a:chExt cx="5049709" cy="227648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2"/>
                </a:lnSpc>
              </a:pPr>
              <a:r>
                <a:rPr lang="en-US" sz="4294" b="true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Disminución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71937"/>
              <a:ext cx="5049709" cy="1004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Abandonamiento de clientes</a:t>
              </a:r>
            </a:p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Exposición de la mora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26709" y="2255601"/>
            <a:ext cx="3787282" cy="2097886"/>
            <a:chOff x="0" y="0"/>
            <a:chExt cx="5049709" cy="279718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  <a:r>
                <a:rPr lang="en-US" sz="4294">
                  <a:solidFill>
                    <a:srgbClr val="1C53A3"/>
                  </a:solidFill>
                  <a:latin typeface="Halant"/>
                  <a:ea typeface="Halant"/>
                  <a:cs typeface="Halant"/>
                  <a:sym typeface="Halant"/>
                </a:rPr>
                <a:t>Aumento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271937"/>
              <a:ext cx="5049709" cy="152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Cartera de clientes</a:t>
              </a:r>
            </a:p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Desempeño al momento de retener clientes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95818" y="2255601"/>
            <a:ext cx="3787282" cy="2097886"/>
            <a:chOff x="0" y="0"/>
            <a:chExt cx="5049709" cy="279718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  <a:r>
                <a:rPr lang="en-US" b="true" sz="4294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Recuperación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271937"/>
              <a:ext cx="5049709" cy="152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Del dinero en mora</a:t>
              </a:r>
            </a:p>
            <a:p>
              <a:pPr algn="l" marL="477849" indent="-238924" lvl="1">
                <a:lnSpc>
                  <a:spcPts val="3098"/>
                </a:lnSpc>
                <a:buFont typeface="Arial"/>
                <a:buChar char="•"/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Clientes que se daban por perdidos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57600" y="4476052"/>
            <a:ext cx="4250412" cy="120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8"/>
              </a:lnSpc>
              <a:spcBef>
                <a:spcPct val="0"/>
              </a:spcBef>
            </a:pPr>
            <a:r>
              <a:rPr lang="en-US" b="true" sz="707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CRISP-DM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509123">
            <a:off x="15362119" y="-2528554"/>
            <a:ext cx="4429841" cy="7710167"/>
          </a:xfrm>
          <a:custGeom>
            <a:avLst/>
            <a:gdLst/>
            <a:ahLst/>
            <a:cxnLst/>
            <a:rect r="r" b="b" t="t" l="l"/>
            <a:pathLst>
              <a:path h="7710167" w="4429841">
                <a:moveTo>
                  <a:pt x="0" y="0"/>
                </a:moveTo>
                <a:lnTo>
                  <a:pt x="4429841" y="0"/>
                </a:lnTo>
                <a:lnTo>
                  <a:pt x="4429841" y="7710167"/>
                </a:lnTo>
                <a:lnTo>
                  <a:pt x="0" y="7710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49751">
            <a:off x="-3741213" y="4822482"/>
            <a:ext cx="8970610" cy="7437451"/>
          </a:xfrm>
          <a:custGeom>
            <a:avLst/>
            <a:gdLst/>
            <a:ahLst/>
            <a:cxnLst/>
            <a:rect r="r" b="b" t="t" l="l"/>
            <a:pathLst>
              <a:path h="7437451" w="8970610">
                <a:moveTo>
                  <a:pt x="0" y="0"/>
                </a:moveTo>
                <a:lnTo>
                  <a:pt x="8970610" y="0"/>
                </a:lnTo>
                <a:lnTo>
                  <a:pt x="8970610" y="7437451"/>
                </a:lnTo>
                <a:lnTo>
                  <a:pt x="0" y="7437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1293" y="3572235"/>
            <a:ext cx="10565414" cy="315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5"/>
              </a:lnSpc>
            </a:pPr>
            <a:r>
              <a:rPr lang="en-US" sz="707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¿Cómo saber cuándo nuestros clientes abandonarán?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79964">
            <a:off x="-4205763" y="5951842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9"/>
                </a:lnTo>
                <a:lnTo>
                  <a:pt x="0" y="5377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4872895" y="-3309112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9"/>
                </a:lnTo>
                <a:lnTo>
                  <a:pt x="0" y="8462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57600" y="1964763"/>
            <a:ext cx="7726964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Dataset sintético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33800" y="4024091"/>
            <a:ext cx="3787282" cy="2858787"/>
            <a:chOff x="0" y="0"/>
            <a:chExt cx="5049709" cy="38117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2"/>
                </a:lnSpc>
              </a:pPr>
              <a:r>
                <a:rPr lang="en-US" sz="4294" b="true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Cliente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1937"/>
              <a:ext cx="5049709" cy="2539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8"/>
                </a:lnSpc>
                <a:spcBef>
                  <a:spcPct val="0"/>
                </a:spcBef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Datos del cliente como id, edad, ingreso mensual, región, días del último pago, cantidad del último pago, educación, tipo de producto en riesgo.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02909" y="4024091"/>
            <a:ext cx="3787282" cy="2472292"/>
            <a:chOff x="0" y="0"/>
            <a:chExt cx="5049709" cy="329638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  <a:r>
                <a:rPr lang="en-US" b="true" sz="4294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Llamada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71937"/>
              <a:ext cx="5049709" cy="2024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8"/>
                </a:lnSpc>
                <a:spcBef>
                  <a:spcPct val="0"/>
                </a:spcBef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Datos como: # intentos de contacto,  tiempo de espera, volumen de saturación, canal de contacto, hora de la llamada.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72018" y="4024091"/>
            <a:ext cx="3787282" cy="2472292"/>
            <a:chOff x="0" y="0"/>
            <a:chExt cx="5049709" cy="329638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5049709" cy="914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82"/>
                </a:lnSpc>
                <a:spcBef>
                  <a:spcPct val="0"/>
                </a:spcBef>
              </a:pPr>
              <a:r>
                <a:rPr lang="en-US" b="true" sz="4294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Riesgo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71937"/>
              <a:ext cx="5049709" cy="2024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8"/>
                </a:lnSpc>
                <a:spcBef>
                  <a:spcPct val="0"/>
                </a:spcBef>
              </a:pPr>
              <a:r>
                <a:rPr lang="en-US" sz="2213" spc="-22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Datos como: saldo en mora, días en mora, segmento de riesgo, score crediticio,  si abandono o no.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01027" y="6972546"/>
            <a:ext cx="8552141" cy="4571508"/>
          </a:xfrm>
          <a:custGeom>
            <a:avLst/>
            <a:gdLst/>
            <a:ahLst/>
            <a:cxnLst/>
            <a:rect r="r" b="b" t="t" l="l"/>
            <a:pathLst>
              <a:path h="4571508" w="8552141">
                <a:moveTo>
                  <a:pt x="0" y="0"/>
                </a:moveTo>
                <a:lnTo>
                  <a:pt x="8552141" y="0"/>
                </a:lnTo>
                <a:lnTo>
                  <a:pt x="8552141" y="4571508"/>
                </a:lnTo>
                <a:lnTo>
                  <a:pt x="0" y="457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87291">
            <a:off x="-3947475" y="-1839794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489138">
            <a:off x="15398992" y="-1342227"/>
            <a:ext cx="12048121" cy="14627962"/>
          </a:xfrm>
          <a:custGeom>
            <a:avLst/>
            <a:gdLst/>
            <a:ahLst/>
            <a:cxnLst/>
            <a:rect r="r" b="b" t="t" l="l"/>
            <a:pathLst>
              <a:path h="14627962" w="12048121">
                <a:moveTo>
                  <a:pt x="12048122" y="0"/>
                </a:moveTo>
                <a:lnTo>
                  <a:pt x="0" y="0"/>
                </a:lnTo>
                <a:lnTo>
                  <a:pt x="0" y="14627962"/>
                </a:lnTo>
                <a:lnTo>
                  <a:pt x="12048122" y="14627962"/>
                </a:lnTo>
                <a:lnTo>
                  <a:pt x="120481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85714" y="848990"/>
            <a:ext cx="4516573" cy="3566535"/>
          </a:xfrm>
          <a:custGeom>
            <a:avLst/>
            <a:gdLst/>
            <a:ahLst/>
            <a:cxnLst/>
            <a:rect r="r" b="b" t="t" l="l"/>
            <a:pathLst>
              <a:path h="3566535" w="4516573">
                <a:moveTo>
                  <a:pt x="0" y="0"/>
                </a:moveTo>
                <a:lnTo>
                  <a:pt x="4516572" y="0"/>
                </a:lnTo>
                <a:lnTo>
                  <a:pt x="4516572" y="3566535"/>
                </a:lnTo>
                <a:lnTo>
                  <a:pt x="0" y="35665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0217" t="0" r="0" b="-1842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3500" y="3867571"/>
            <a:ext cx="5307614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1C53A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Insights principales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839356" y="4031755"/>
            <a:ext cx="3818865" cy="2684689"/>
            <a:chOff x="0" y="0"/>
            <a:chExt cx="5091820" cy="35795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5091820" cy="176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75"/>
                </a:lnSpc>
              </a:pPr>
              <a:r>
                <a:rPr lang="en-US" sz="4135" b="true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Tendencias de Abandono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27761"/>
              <a:ext cx="5091820" cy="145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Crédito personal → 69.11%</a:t>
              </a:r>
            </a:p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Llamada → 64.52%</a:t>
              </a:r>
            </a:p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Riesgo alto → 69.59%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06906" y="5503799"/>
            <a:ext cx="4074187" cy="3427639"/>
            <a:chOff x="0" y="0"/>
            <a:chExt cx="5432250" cy="457018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5432250" cy="176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75"/>
                </a:lnSpc>
              </a:pPr>
              <a:r>
                <a:rPr lang="en-US" sz="4135" b="true">
                  <a:solidFill>
                    <a:srgbClr val="1C53A3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Correlación de Abandono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127761"/>
              <a:ext cx="5432250" cy="24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+ Score crediticio → - Abandono</a:t>
              </a:r>
            </a:p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+ Días mora → + Abandono</a:t>
              </a:r>
            </a:p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+ Recarga del call center → + Abandono</a:t>
              </a:r>
            </a:p>
            <a:p>
              <a:pPr algn="l" marL="460116" indent="-230058" lvl="1">
                <a:lnSpc>
                  <a:spcPts val="2983"/>
                </a:lnSpc>
                <a:buFont typeface="Arial"/>
                <a:buChar char="•"/>
              </a:pPr>
              <a:r>
                <a:rPr lang="en-US" sz="2131" spc="-2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+ Saldo en mora → + Abandono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96392">
            <a:off x="13604818" y="-1055081"/>
            <a:ext cx="8949997" cy="6281271"/>
          </a:xfrm>
          <a:custGeom>
            <a:avLst/>
            <a:gdLst/>
            <a:ahLst/>
            <a:cxnLst/>
            <a:rect r="r" b="b" t="t" l="l"/>
            <a:pathLst>
              <a:path h="6281271" w="8949997">
                <a:moveTo>
                  <a:pt x="0" y="0"/>
                </a:moveTo>
                <a:lnTo>
                  <a:pt x="8949997" y="0"/>
                </a:lnTo>
                <a:lnTo>
                  <a:pt x="8949997" y="6281270"/>
                </a:lnTo>
                <a:lnTo>
                  <a:pt x="0" y="6281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66196"/>
            <a:ext cx="6598211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Transformación de 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55" y="3703403"/>
            <a:ext cx="4356089" cy="179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00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Datos</a:t>
            </a:r>
          </a:p>
          <a:p>
            <a:pPr algn="l" marL="0" indent="0" lvl="0">
              <a:lnSpc>
                <a:spcPts val="7084"/>
              </a:lnSpc>
              <a:spcBef>
                <a:spcPct val="0"/>
              </a:spcBef>
            </a:pPr>
            <a:r>
              <a:rPr lang="en-US" b="true" sz="60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Duplicados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51747" y="6280557"/>
            <a:ext cx="4092253" cy="179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4"/>
              </a:lnSpc>
              <a:spcBef>
                <a:spcPct val="0"/>
              </a:spcBef>
            </a:pPr>
            <a:r>
              <a:rPr lang="en-US" b="true" sz="60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Manejo de fechas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745929"/>
            <a:ext cx="3022866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inválidos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42399" y="6280557"/>
            <a:ext cx="3323916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Manejo de atípicos</a:t>
            </a:r>
          </a:p>
        </p:txBody>
      </p:sp>
      <p:sp>
        <p:nvSpPr>
          <p:cNvPr name="AutoShape 8" id="8"/>
          <p:cNvSpPr/>
          <p:nvPr/>
        </p:nvSpPr>
        <p:spPr>
          <a:xfrm>
            <a:off x="3077200" y="5499828"/>
            <a:ext cx="1974547" cy="16741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7097873" y="4639374"/>
            <a:ext cx="2046127" cy="163165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12166866" y="4639374"/>
            <a:ext cx="2937491" cy="163165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01027" y="6972546"/>
            <a:ext cx="8552141" cy="4571508"/>
          </a:xfrm>
          <a:custGeom>
            <a:avLst/>
            <a:gdLst/>
            <a:ahLst/>
            <a:cxnLst/>
            <a:rect r="r" b="b" t="t" l="l"/>
            <a:pathLst>
              <a:path h="4571508" w="8552141">
                <a:moveTo>
                  <a:pt x="0" y="0"/>
                </a:moveTo>
                <a:lnTo>
                  <a:pt x="8552141" y="0"/>
                </a:lnTo>
                <a:lnTo>
                  <a:pt x="8552141" y="4571508"/>
                </a:lnTo>
                <a:lnTo>
                  <a:pt x="0" y="457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87291">
            <a:off x="-3947475" y="-1839794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489138">
            <a:off x="15398992" y="-1342227"/>
            <a:ext cx="12048121" cy="14627962"/>
          </a:xfrm>
          <a:custGeom>
            <a:avLst/>
            <a:gdLst/>
            <a:ahLst/>
            <a:cxnLst/>
            <a:rect r="r" b="b" t="t" l="l"/>
            <a:pathLst>
              <a:path h="14627962" w="12048121">
                <a:moveTo>
                  <a:pt x="12048122" y="0"/>
                </a:moveTo>
                <a:lnTo>
                  <a:pt x="0" y="0"/>
                </a:lnTo>
                <a:lnTo>
                  <a:pt x="0" y="14627962"/>
                </a:lnTo>
                <a:lnTo>
                  <a:pt x="12048122" y="14627962"/>
                </a:lnTo>
                <a:lnTo>
                  <a:pt x="120481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5043" y="3867571"/>
            <a:ext cx="6124750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1C53A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Ingeniería de características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5426" y="3282096"/>
            <a:ext cx="4530710" cy="36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Inferir la fecha de nacimiento a partir de la edad.</a:t>
            </a:r>
          </a:p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Inferir los años de antiguedad del cliente.</a:t>
            </a:r>
          </a:p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Llamadas en días de oficina</a:t>
            </a:r>
          </a:p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Día de la semana en la que ocurre la llamada</a:t>
            </a:r>
          </a:p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Mes cuándo ocurre la llamada</a:t>
            </a:r>
          </a:p>
          <a:p>
            <a:pPr algn="l" marL="498248" indent="-249124" lvl="1">
              <a:lnSpc>
                <a:spcPts val="3230"/>
              </a:lnSpc>
              <a:buFont typeface="Arial"/>
              <a:buChar char="•"/>
            </a:pPr>
            <a:r>
              <a:rPr lang="en-US" sz="2307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Año cuándo ocurre la llamada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96392">
            <a:off x="13604818" y="-1055081"/>
            <a:ext cx="8949997" cy="6281271"/>
          </a:xfrm>
          <a:custGeom>
            <a:avLst/>
            <a:gdLst/>
            <a:ahLst/>
            <a:cxnLst/>
            <a:rect r="r" b="b" t="t" l="l"/>
            <a:pathLst>
              <a:path h="6281271" w="8949997">
                <a:moveTo>
                  <a:pt x="0" y="0"/>
                </a:moveTo>
                <a:lnTo>
                  <a:pt x="8949997" y="0"/>
                </a:lnTo>
                <a:lnTo>
                  <a:pt x="8949997" y="6281270"/>
                </a:lnTo>
                <a:lnTo>
                  <a:pt x="0" y="6281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66196"/>
            <a:ext cx="6598211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Validación de 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5658" y="3290625"/>
            <a:ext cx="4356089" cy="90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4"/>
              </a:lnSpc>
              <a:spcBef>
                <a:spcPct val="0"/>
              </a:spcBef>
            </a:pPr>
            <a:r>
              <a:rPr lang="en-US" b="true" sz="60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Datos nulos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7806" y="4648895"/>
            <a:ext cx="4092253" cy="179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4"/>
              </a:lnSpc>
              <a:spcBef>
                <a:spcPct val="0"/>
              </a:spcBef>
            </a:pPr>
            <a:r>
              <a:rPr lang="en-US" b="true" sz="600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Fechas vacías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6404" y="1629259"/>
            <a:ext cx="3022866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fuera de rango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38484" y="5153025"/>
            <a:ext cx="4207829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Categóricos inválidos</a:t>
            </a:r>
          </a:p>
        </p:txBody>
      </p:sp>
      <p:sp>
        <p:nvSpPr>
          <p:cNvPr name="AutoShape 8" id="8"/>
          <p:cNvSpPr/>
          <p:nvPr/>
        </p:nvSpPr>
        <p:spPr>
          <a:xfrm>
            <a:off x="2873702" y="4191699"/>
            <a:ext cx="1454103" cy="135064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6373932" y="2970379"/>
            <a:ext cx="2262472" cy="16689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11659270" y="2970379"/>
            <a:ext cx="1783129" cy="217312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6212984" y="7449268"/>
            <a:ext cx="2827856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Balance objetivo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9040839" y="6949440"/>
            <a:ext cx="4401560" cy="139327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919">
            <a:off x="3957595" y="-2272588"/>
            <a:ext cx="10372809" cy="4545176"/>
          </a:xfrm>
          <a:custGeom>
            <a:avLst/>
            <a:gdLst/>
            <a:ahLst/>
            <a:cxnLst/>
            <a:rect r="r" b="b" t="t" l="l"/>
            <a:pathLst>
              <a:path h="4545176" w="10372809">
                <a:moveTo>
                  <a:pt x="0" y="0"/>
                </a:moveTo>
                <a:lnTo>
                  <a:pt x="10372810" y="0"/>
                </a:lnTo>
                <a:lnTo>
                  <a:pt x="10372810" y="4545176"/>
                </a:lnTo>
                <a:lnTo>
                  <a:pt x="0" y="454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8040" y="2783766"/>
            <a:ext cx="13882262" cy="2672335"/>
          </a:xfrm>
          <a:custGeom>
            <a:avLst/>
            <a:gdLst/>
            <a:ahLst/>
            <a:cxnLst/>
            <a:rect r="r" b="b" t="t" l="l"/>
            <a:pathLst>
              <a:path h="2672335" w="13882262">
                <a:moveTo>
                  <a:pt x="0" y="0"/>
                </a:moveTo>
                <a:lnTo>
                  <a:pt x="13882262" y="0"/>
                </a:lnTo>
                <a:lnTo>
                  <a:pt x="13882262" y="2672336"/>
                </a:lnTo>
                <a:lnTo>
                  <a:pt x="0" y="2672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8040" y="2183056"/>
            <a:ext cx="3928310" cy="60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9"/>
              </a:lnSpc>
            </a:pPr>
            <a:r>
              <a:rPr lang="en-US" sz="3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Experimentación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8115300" cy="115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8"/>
              </a:lnSpc>
            </a:pPr>
            <a:r>
              <a:rPr lang="en-US" sz="764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MLFlow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8040" y="5482750"/>
            <a:ext cx="3928310" cy="60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9"/>
              </a:lnSpc>
            </a:pPr>
            <a:r>
              <a:rPr lang="en-US" sz="3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Hiperparámetros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8040" y="6229191"/>
            <a:ext cx="4198501" cy="118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XGBoost: 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Estimadores: 50, 100, 200, 300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Max Depth: 3, 5, 7, 9</a:t>
            </a:r>
          </a:p>
          <a:p>
            <a:pPr algn="l" marL="431801" indent="-215900" lvl="1">
              <a:lnSpc>
                <a:spcPts val="23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Learning Rate: 0.01, 0.1, 0.2, 0.3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072120"/>
            <a:ext cx="4198501" cy="118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LightGBM: 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Estimadores: 50, 100, 200, 300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Max Depth: 3, 5, 7, 9, -1</a:t>
            </a:r>
          </a:p>
          <a:p>
            <a:pPr algn="l" marL="431801" indent="-215900" lvl="1">
              <a:lnSpc>
                <a:spcPts val="23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Learning Rate: 0.01, 0.1, 0.2, 0.3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99171" y="6229191"/>
            <a:ext cx="4127897" cy="118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Random Forest: 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Estimadores: 50, 100, 200, 300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Max Depth: 5, 10, 15, 20</a:t>
            </a:r>
          </a:p>
          <a:p>
            <a:pPr algn="l" marL="431801" indent="-215900" lvl="1">
              <a:lnSpc>
                <a:spcPts val="23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Min Muestras a Separar: 2, 5,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99171" y="8186896"/>
            <a:ext cx="3988713" cy="118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Regresión Logística: 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C:0.001, 0.01, 0.1, 1, 10, 1000</a:t>
            </a: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Penalty: 11, 12</a:t>
            </a:r>
          </a:p>
          <a:p>
            <a:pPr algn="l" marL="431801" indent="-215900" lvl="1">
              <a:lnSpc>
                <a:spcPts val="23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Max Iter: 1000, 2000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1787" y="2991121"/>
            <a:ext cx="12759067" cy="7049384"/>
          </a:xfrm>
          <a:custGeom>
            <a:avLst/>
            <a:gdLst/>
            <a:ahLst/>
            <a:cxnLst/>
            <a:rect r="r" b="b" t="t" l="l"/>
            <a:pathLst>
              <a:path h="7049384" w="12759067">
                <a:moveTo>
                  <a:pt x="0" y="0"/>
                </a:moveTo>
                <a:lnTo>
                  <a:pt x="12759067" y="0"/>
                </a:lnTo>
                <a:lnTo>
                  <a:pt x="12759067" y="7049384"/>
                </a:lnTo>
                <a:lnTo>
                  <a:pt x="0" y="704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3610" y="1038225"/>
            <a:ext cx="16473908" cy="210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XGBoost v LightGBM v Random Forest v Logistic Regression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919">
            <a:off x="3957595" y="-2272588"/>
            <a:ext cx="10372809" cy="4545176"/>
          </a:xfrm>
          <a:custGeom>
            <a:avLst/>
            <a:gdLst/>
            <a:ahLst/>
            <a:cxnLst/>
            <a:rect r="r" b="b" t="t" l="l"/>
            <a:pathLst>
              <a:path h="4545176" w="10372809">
                <a:moveTo>
                  <a:pt x="0" y="0"/>
                </a:moveTo>
                <a:lnTo>
                  <a:pt x="10372810" y="0"/>
                </a:lnTo>
                <a:lnTo>
                  <a:pt x="10372810" y="4545176"/>
                </a:lnTo>
                <a:lnTo>
                  <a:pt x="0" y="454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0510" y="3573812"/>
            <a:ext cx="5418033" cy="4246383"/>
          </a:xfrm>
          <a:custGeom>
            <a:avLst/>
            <a:gdLst/>
            <a:ahLst/>
            <a:cxnLst/>
            <a:rect r="r" b="b" t="t" l="l"/>
            <a:pathLst>
              <a:path h="4246383" w="5418033">
                <a:moveTo>
                  <a:pt x="0" y="0"/>
                </a:moveTo>
                <a:lnTo>
                  <a:pt x="5418033" y="0"/>
                </a:lnTo>
                <a:lnTo>
                  <a:pt x="5418033" y="4246384"/>
                </a:lnTo>
                <a:lnTo>
                  <a:pt x="0" y="4246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81430" y="3570761"/>
            <a:ext cx="5703940" cy="4249435"/>
          </a:xfrm>
          <a:custGeom>
            <a:avLst/>
            <a:gdLst/>
            <a:ahLst/>
            <a:cxnLst/>
            <a:rect r="r" b="b" t="t" l="l"/>
            <a:pathLst>
              <a:path h="4249435" w="5703940">
                <a:moveTo>
                  <a:pt x="0" y="0"/>
                </a:moveTo>
                <a:lnTo>
                  <a:pt x="5703940" y="0"/>
                </a:lnTo>
                <a:lnTo>
                  <a:pt x="5703940" y="4249435"/>
                </a:lnTo>
                <a:lnTo>
                  <a:pt x="0" y="4249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4779" y="3573812"/>
            <a:ext cx="5662843" cy="4218818"/>
          </a:xfrm>
          <a:custGeom>
            <a:avLst/>
            <a:gdLst/>
            <a:ahLst/>
            <a:cxnLst/>
            <a:rect r="r" b="b" t="t" l="l"/>
            <a:pathLst>
              <a:path h="4218818" w="5662843">
                <a:moveTo>
                  <a:pt x="0" y="0"/>
                </a:moveTo>
                <a:lnTo>
                  <a:pt x="5662843" y="0"/>
                </a:lnTo>
                <a:lnTo>
                  <a:pt x="5662843" y="4218818"/>
                </a:lnTo>
                <a:lnTo>
                  <a:pt x="0" y="42188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1769" y="139005"/>
            <a:ext cx="5675797" cy="342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8"/>
              </a:lnSpc>
            </a:pPr>
            <a:r>
              <a:rPr lang="en-US" sz="764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Modelo seleccionado</a:t>
            </a:r>
          </a:p>
          <a:p>
            <a:pPr algn="l">
              <a:lnSpc>
                <a:spcPts val="9018"/>
              </a:lnSpc>
            </a:pPr>
            <a:r>
              <a:rPr lang="en-US" sz="764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XGBoost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69152" y="-3499239"/>
            <a:ext cx="9150155" cy="8185229"/>
          </a:xfrm>
          <a:custGeom>
            <a:avLst/>
            <a:gdLst/>
            <a:ahLst/>
            <a:cxnLst/>
            <a:rect r="r" b="b" t="t" l="l"/>
            <a:pathLst>
              <a:path h="8185229" w="9150155">
                <a:moveTo>
                  <a:pt x="0" y="0"/>
                </a:moveTo>
                <a:lnTo>
                  <a:pt x="9150155" y="0"/>
                </a:lnTo>
                <a:lnTo>
                  <a:pt x="9150155" y="8185229"/>
                </a:lnTo>
                <a:lnTo>
                  <a:pt x="0" y="818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0641" y="5891129"/>
            <a:ext cx="10585977" cy="8815232"/>
          </a:xfrm>
          <a:custGeom>
            <a:avLst/>
            <a:gdLst/>
            <a:ahLst/>
            <a:cxnLst/>
            <a:rect r="r" b="b" t="t" l="l"/>
            <a:pathLst>
              <a:path h="8815232" w="10585977">
                <a:moveTo>
                  <a:pt x="0" y="0"/>
                </a:moveTo>
                <a:lnTo>
                  <a:pt x="10585977" y="0"/>
                </a:lnTo>
                <a:lnTo>
                  <a:pt x="10585977" y="8815232"/>
                </a:lnTo>
                <a:lnTo>
                  <a:pt x="0" y="881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9235582" cy="115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8"/>
              </a:lnSpc>
            </a:pPr>
            <a:r>
              <a:rPr lang="en-US" sz="7642" b="true">
                <a:solidFill>
                  <a:srgbClr val="1C53A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Mejoras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1943" y="2968189"/>
            <a:ext cx="2667223" cy="3111764"/>
            <a:chOff x="0" y="0"/>
            <a:chExt cx="3556297" cy="4149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6297" cy="3556297"/>
            </a:xfrm>
            <a:custGeom>
              <a:avLst/>
              <a:gdLst/>
              <a:ahLst/>
              <a:cxnLst/>
              <a:rect r="r" b="b" t="t" l="l"/>
              <a:pathLst>
                <a:path h="3556297" w="3556297">
                  <a:moveTo>
                    <a:pt x="0" y="0"/>
                  </a:moveTo>
                  <a:lnTo>
                    <a:pt x="3556297" y="0"/>
                  </a:lnTo>
                  <a:lnTo>
                    <a:pt x="3556297" y="3556297"/>
                  </a:lnTo>
                  <a:lnTo>
                    <a:pt x="0" y="3556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27002" y="3748545"/>
              <a:ext cx="3102293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0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ecisiones dinámicas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46491" y="3348748"/>
            <a:ext cx="2430850" cy="2731205"/>
            <a:chOff x="0" y="0"/>
            <a:chExt cx="3241133" cy="3641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41133" cy="3241133"/>
            </a:xfrm>
            <a:custGeom>
              <a:avLst/>
              <a:gdLst/>
              <a:ahLst/>
              <a:cxnLst/>
              <a:rect r="r" b="b" t="t" l="l"/>
              <a:pathLst>
                <a:path h="3241133" w="3241133">
                  <a:moveTo>
                    <a:pt x="0" y="0"/>
                  </a:moveTo>
                  <a:lnTo>
                    <a:pt x="3241133" y="0"/>
                  </a:lnTo>
                  <a:lnTo>
                    <a:pt x="3241133" y="3241133"/>
                  </a:lnTo>
                  <a:lnTo>
                    <a:pt x="0" y="324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43234" y="3241133"/>
              <a:ext cx="1734185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Priorización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20497" y="3638196"/>
            <a:ext cx="2487570" cy="2441757"/>
            <a:chOff x="0" y="0"/>
            <a:chExt cx="3316760" cy="3255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5202" cy="2855202"/>
            </a:xfrm>
            <a:custGeom>
              <a:avLst/>
              <a:gdLst/>
              <a:ahLst/>
              <a:cxnLst/>
              <a:rect r="r" b="b" t="t" l="l"/>
              <a:pathLst>
                <a:path h="2855202" w="2855202">
                  <a:moveTo>
                    <a:pt x="0" y="0"/>
                  </a:moveTo>
                  <a:lnTo>
                    <a:pt x="2855202" y="0"/>
                  </a:lnTo>
                  <a:lnTo>
                    <a:pt x="2855202" y="2855202"/>
                  </a:lnTo>
                  <a:lnTo>
                    <a:pt x="0" y="285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2855202"/>
              <a:ext cx="3316760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Menos Abandono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19844" y="3292028"/>
            <a:ext cx="2487570" cy="2787925"/>
            <a:chOff x="0" y="0"/>
            <a:chExt cx="3316760" cy="37172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16760" cy="3316760"/>
            </a:xfrm>
            <a:custGeom>
              <a:avLst/>
              <a:gdLst/>
              <a:ahLst/>
              <a:cxnLst/>
              <a:rect r="r" b="b" t="t" l="l"/>
              <a:pathLst>
                <a:path h="3316760" w="3316760">
                  <a:moveTo>
                    <a:pt x="0" y="0"/>
                  </a:moveTo>
                  <a:lnTo>
                    <a:pt x="3316760" y="0"/>
                  </a:lnTo>
                  <a:lnTo>
                    <a:pt x="3316760" y="3316760"/>
                  </a:lnTo>
                  <a:lnTo>
                    <a:pt x="0" y="3316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663255" y="3316760"/>
              <a:ext cx="1990249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Recuperación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3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2895" y="0"/>
            <a:ext cx="10372809" cy="4545176"/>
          </a:xfrm>
          <a:custGeom>
            <a:avLst/>
            <a:gdLst/>
            <a:ahLst/>
            <a:cxnLst/>
            <a:rect r="r" b="b" t="t" l="l"/>
            <a:pathLst>
              <a:path h="4545176" w="10372809">
                <a:moveTo>
                  <a:pt x="0" y="0"/>
                </a:moveTo>
                <a:lnTo>
                  <a:pt x="10372810" y="0"/>
                </a:lnTo>
                <a:lnTo>
                  <a:pt x="10372810" y="4545176"/>
                </a:lnTo>
                <a:lnTo>
                  <a:pt x="0" y="454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25040" y="1028700"/>
            <a:ext cx="4802358" cy="11687153"/>
          </a:xfrm>
          <a:custGeom>
            <a:avLst/>
            <a:gdLst/>
            <a:ahLst/>
            <a:cxnLst/>
            <a:rect r="r" b="b" t="t" l="l"/>
            <a:pathLst>
              <a:path h="11687153" w="4802358">
                <a:moveTo>
                  <a:pt x="4802358" y="0"/>
                </a:moveTo>
                <a:lnTo>
                  <a:pt x="0" y="0"/>
                </a:lnTo>
                <a:lnTo>
                  <a:pt x="0" y="11687153"/>
                </a:lnTo>
                <a:lnTo>
                  <a:pt x="4802358" y="11687153"/>
                </a:lnTo>
                <a:lnTo>
                  <a:pt x="48023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86728" y="3954626"/>
            <a:ext cx="10909700" cy="414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0"/>
              </a:lnSpc>
            </a:pPr>
          </a:p>
          <a:p>
            <a:pPr algn="l" marL="863622" indent="-431811" lvl="1">
              <a:lnSpc>
                <a:spcPts val="472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 estandarización permite fácilidad en despliegue</a:t>
            </a:r>
          </a:p>
          <a:p>
            <a:pPr algn="l" marL="863622" indent="-431811" lvl="1">
              <a:lnSpc>
                <a:spcPts val="472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El proyecto deja una base sólida para incorporar más modelos con mayor rapidez.</a:t>
            </a:r>
          </a:p>
          <a:p>
            <a:pPr algn="l" marL="863622" indent="-431811" lvl="1">
              <a:lnSpc>
                <a:spcPts val="472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El desarrollo de modelos en MLFlow facilita su monitoreo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516449">
            <a:off x="17054054" y="3440172"/>
            <a:ext cx="4802358" cy="11687153"/>
          </a:xfrm>
          <a:custGeom>
            <a:avLst/>
            <a:gdLst/>
            <a:ahLst/>
            <a:cxnLst/>
            <a:rect r="r" b="b" t="t" l="l"/>
            <a:pathLst>
              <a:path h="11687153" w="4802358">
                <a:moveTo>
                  <a:pt x="4802358" y="0"/>
                </a:moveTo>
                <a:lnTo>
                  <a:pt x="0" y="0"/>
                </a:lnTo>
                <a:lnTo>
                  <a:pt x="0" y="11687153"/>
                </a:lnTo>
                <a:lnTo>
                  <a:pt x="4802358" y="11687153"/>
                </a:lnTo>
                <a:lnTo>
                  <a:pt x="48023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69266" y="1759278"/>
            <a:ext cx="76607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DAG4vBTP2fs</dc:identifier>
  <dcterms:modified xsi:type="dcterms:W3CDTF">2011-08-01T06:04:30Z</dcterms:modified>
  <cp:revision>1</cp:revision>
  <dc:title>MLOPS</dc:title>
</cp:coreProperties>
</file>